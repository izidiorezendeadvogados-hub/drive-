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463040"/>
            <a:ext cx="3108960" cy="3108960"/>
          </a:xfrm>
          <a:prstGeom prst="ellipse">
            <a:avLst/>
          </a:prstGeom>
          <a:solidFill>
            <a:srgbClr val="6D2E46"/>
          </a:solidFill>
          <a:ln w="25400">
            <a:solidFill>
              <a:srgbClr val="C9A22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CIVIL · PARTE GERAL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6916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Ausência e Morte Presumida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E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de declaração de ausência (arts. 22 a 39) e morte presumida sem ausência (art. 7º) do Código Civil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8920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Paulo Izidio da Silva Rezende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 · OAB/TO 5168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Gurupi/TO, 24 de setembro de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Noções gerais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0020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Ausente: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desaparece do seu domicílio sem dar notícia e sem deixar representante ou procurador para administrar seus bens (art. 22).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Finalidade: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o patrimônio do desaparecido. A lei avança em fases: a cada etapa cresce a probabilidade da morte e diminui a proteção aos interesses do ausente.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Registro: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sentença declaratória de ausência e a de morte presumida são registradas no Registro Civil de Pessoas Naturais (art. 9º, IV, CC; art. 29, VI, Lei 6.015/73).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Processo: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744 e 745 do CPC (jurisdição voluntária).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589520" y="173736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90956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6º, CC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25146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existência da pessoa natural termina com a morte; presume-se esta, quanto aos ausentes, nos casos em que a lei autoriza a abertura de sucessão definitiva.”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4800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E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presunção de morte só chega na 3ª fase.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procedimento em três fases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337560" cy="3840480"/>
          </a:xfrm>
          <a:prstGeom prst="roundRect">
            <a:avLst>
              <a:gd name="adj" fmla="val 2192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063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Curadoria dos bens do ausente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840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22 a 25 · CPC 744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25196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Arrecadação dos bens, nomeação de curador e editais por 1 ano chamando o ausente.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023360" y="3520440"/>
            <a:ext cx="274320" cy="457200"/>
          </a:xfrm>
          <a:prstGeom prst="chevron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1828800"/>
            <a:ext cx="3337560" cy="3840480"/>
          </a:xfrm>
          <a:prstGeom prst="roundRect">
            <a:avLst>
              <a:gd name="adj" fmla="val 2192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214884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548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3063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Sucessão provisória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4754880" y="3840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26 a 36 · CPC 745, §§ 1º-2º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754880" y="425196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Herdeiros entram na posse, com garantias e restrições. Os bens ainda podem voltar ao ausente.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909560" y="3520440"/>
            <a:ext cx="274320" cy="457200"/>
          </a:xfrm>
          <a:prstGeom prst="chevron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21040" y="1828800"/>
            <a:ext cx="3337560" cy="3840480"/>
          </a:xfrm>
          <a:prstGeom prst="roundRect">
            <a:avLst>
              <a:gd name="adj" fmla="val 2192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641080" y="2148840"/>
            <a:ext cx="731520" cy="7315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410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8641080" y="3063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Sucessão definitiva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8641080" y="3840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37 a 39 · CPC 745, §§ 3º-4º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641080" y="425196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Presunção de morte, dissolução do casamento e propriedade resolúvel por mais 10 anos.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FASE · ARTS. 22 A 24 CC; ART. 744 CPC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Curadoria dos bens do ausente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cabe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2194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22 ·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desaparecimento sem notícia e sem representante ou procurador.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" y="36118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23 ·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deixou mandatário, mas ele não quer ou não pode exercer o mandato, ou os poderes são insuficientes.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512064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2960" y="5212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Legitimidade: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interessado ou o Ministério Público.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Providências do juiz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309360" y="21031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093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212140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a ausência e nomeia curador (art. 22).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309360" y="2898648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0936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49440" y="2916936"/>
            <a:ext cx="4663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 os poderes e as obrigações do curador, aplicando as regras de tutela e curatela (art. 24).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309360" y="3922776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0936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39410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arrecadar os bens do ausente (art. 744 CPC).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309360" y="4718304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4718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949440" y="4736592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editais na internet (site do tribunal e plataforma do CNJ) por 1 ano, reproduzidos de 2 em 2 meses, chamando o ausente (art. 745 CPC).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FASE · ART. 25 CC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será o curador? Ordem legal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1º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9260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Cônjuge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47472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que não separado judicialmente nem de fato há mais de 2 anos antes da declaração. Estende-se ao companheiro (Enunciado 97, I JDC).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37560" y="17830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11880" y="205740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1188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2º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611880" y="29260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Pais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3611880" y="347472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falta do cônjuge (§ 1º).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26480" y="17830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0" y="205740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3º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29260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Descendentes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347472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falta dos pais, desde que não haja impedimento. Os mais próximos precedem os mais remotos (§ 2º).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915400" y="17830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189720" y="205740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8972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4º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189720" y="29260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Curador dativo</a:t>
            </a:r>
            <a:endParaRPr lang="en-US" sz="2100" dirty="0"/>
          </a:p>
        </p:txBody>
      </p:sp>
      <p:sp>
        <p:nvSpPr>
          <p:cNvPr id="27" name="Text 24"/>
          <p:cNvSpPr txBox="1"/>
          <p:nvPr/>
        </p:nvSpPr>
        <p:spPr>
          <a:xfrm>
            <a:off x="9189720" y="347472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falta de todos, o juiz escolhe o curador (§ 3º).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preferencial: cada classe só é chamada na falta da anterior.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FASE · ARTS. 26 A 28 CC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Sucessão provisória: prazos e legitimados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4754880" cy="1874520"/>
          </a:xfrm>
          <a:prstGeom prst="roundRect">
            <a:avLst>
              <a:gd name="adj" fmla="val 3902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68680" y="17830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ano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974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 arrecadação, se o ausente não deixou representante (art. 26).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4754880" cy="1874520"/>
          </a:xfrm>
          <a:prstGeom prst="roundRect">
            <a:avLst>
              <a:gd name="adj" fmla="val 3902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68680" y="3886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anos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800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 arrecadação, se deixou representante ou procurador (art. 26).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16459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pode requerer (art. 27)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214884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cônjuge não separado judicialmente.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herdeiros presumidos, legítimos ou testamentários.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tem direito sobre os bens que dependa da morte do ausente (ex.: legatário, nu-proprietário).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credores de obrigações vencidas e não pagas.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 Público,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houver interessados ao fim do prazo (art. 28, § 1º).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760720" y="4846320"/>
            <a:ext cx="5852160" cy="822960"/>
          </a:xfrm>
          <a:prstGeom prst="roundRect">
            <a:avLst>
              <a:gd name="adj" fmla="val 8889"/>
            </a:avLst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989320" y="4892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Citação (art. 745, § 2º, CPC):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herdeiros pessoalmente; demais interessados por edital.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FASE · ART. 28 CC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Efeitos da sentença de sucessão provisória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FFFFF">
              <a:alpha val="0"/>
            </a:srgbClr>
          </a:solidFill>
          <a:ln w="12700">
            <a:solidFill>
              <a:srgbClr val="E3D3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148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dias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4290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sentença só produz efeito 180 dias depois de publicada pela imprensa.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FFFFF">
              <a:alpha val="0"/>
            </a:srgbClr>
          </a:solidFill>
          <a:ln w="12700">
            <a:solidFill>
              <a:srgbClr val="E3D3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17720" y="2148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Trânsito em julgado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34290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que transita em julgado, abre-se o testamento (se houver) e procede-se ao inventário e à partilha, como se o ausente fosse falecido.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3816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3816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FFFFF">
              <a:alpha val="0"/>
            </a:srgbClr>
          </a:solidFill>
          <a:ln w="12700">
            <a:solidFill>
              <a:srgbClr val="E3D3D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0" y="2148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dias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34290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ninguém requerer o inventário em 30 dias do trânsito em julgado, os bens são arrecadados como herança jacente (§ 2º; arts. 1.819 e ss.).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FASE · ARTS. 29 A 32 E 34 CC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Cautelas patrimoniais na posse provisória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828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29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2402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partilha, o juiz pode converter móveis sujeitos a deterioração ou extravio em imóveis ou títulos garantidos pela União.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00" y="1645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572000" y="1828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30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2402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herdeiros imitidos na posse prestam garantia (penhor ou hipoteca) equivalente aos quinhões. Quem não puder fica excluído (§ 1º).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38160" y="1645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366760" y="1828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30, § 2º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22402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Ascendentes, descendentes e cônjuge, provada a qualidade de herdeiros, dispensam a garantia.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724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34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572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excluído da posse pode, justificando falta de meios, pedir metade dos rendimentos do seu quinhão.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343400" y="3977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457200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31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4572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Imóveis não podem ser alienados (salvo desapropriação) nem hipotecados, exceto por ordem judicial para evitar a ruína.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138160" y="3977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36676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32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366760" y="4572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sucessores provisórios representam o ausente ativa e passivamente. As ações correm contra eles.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FASE · ART. 33 CC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Frutos e rendimentos dos bens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68680" y="1874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Descendente, ascendente ou cônjuge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97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Fazem seus TODOS os frutos e rendimentos dos bens que lhes couberem.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45352" y="169164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65392" y="1874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Demais sucessores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6565392" y="2697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Capitalizam METADE dos frutos e rendimentos (art. 29) e prestam contas anualmente ao juiz.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443484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8680" y="4754880"/>
            <a:ext cx="822960" cy="8229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50" y="4968850"/>
            <a:ext cx="395021" cy="39502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965960" y="452628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Parágrafo único: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ausente aparecer e ficar provado que a ausência foi voluntária e injustificada, ele perde, em favor do sucessor, sua parte nos frutos e rendimentos.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FASE · ARTS. 35 E 36 CC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Fatos novos durante a posse provisória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11094415" cy="1874520"/>
          </a:xfrm>
          <a:prstGeom prst="roundRect">
            <a:avLst>
              <a:gd name="adj" fmla="val 3902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2286000"/>
            <a:ext cx="868680" cy="8686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257" y="251185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03120" y="2011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da data exata da morte (art. 35)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210312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Considera-se aberta a sucessão nessa data, em favor dos herdeiros que o eram àquele tempo. A sucessão passa a ser comum (saisine, art. 1.784).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931920"/>
            <a:ext cx="11094415" cy="1874520"/>
          </a:xfrm>
          <a:prstGeom prst="roundRect">
            <a:avLst>
              <a:gd name="adj" fmla="val 3902"/>
            </a:avLst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4434840"/>
            <a:ext cx="868680" cy="8686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257" y="4660697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10312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ausente reaparece (art. 36)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2103120" y="46634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ausente aparecer ou se provar que está vivo, cessam as vantagens dos sucessores imitidos na posse. Eles ficam obrigados a tomar as medidas assecuratórias até entregar os bens ao dono.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FASE · ARTS. 37 E 38 CC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Sucessão definitiva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5760720" cy="1783080"/>
          </a:xfrm>
          <a:prstGeom prst="roundRect">
            <a:avLst>
              <a:gd name="adj" fmla="val 4103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214884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anos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214884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37: 10 anos após o trânsito em julgado da sentença de sucessão provisória. Os interessados requerem a definitiva e o levantamento das cauções.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069080"/>
            <a:ext cx="5760720" cy="1783080"/>
          </a:xfrm>
          <a:prstGeom prst="roundRect">
            <a:avLst>
              <a:gd name="adj" fmla="val 4103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" y="416052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+ 5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2926080" y="416052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38: o ausente conta 80 anos de idade e as últimas notícias dele datam de 5 anos. A definitiva pode ser pedida sem passar pela provisória.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675120" y="210312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15" y="2293315"/>
            <a:ext cx="351130" cy="35113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635240" y="2084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Presunção de morte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4688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6º, 2ª parte.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675120" y="338328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315" y="3573475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635240" y="3364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Dissolução do casamento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7635240" y="37490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1.571, § 1º: o ex-cônjuge pode casar novamente.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6675120" y="466344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315" y="4853635"/>
            <a:ext cx="351130" cy="35113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635240" y="4645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 resolúvel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7635240" y="50292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sucessores só terão propriedade plena após os 10 anos do art. 39.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FASE · ART. 39 CC; ART. 745, § 4º, CPC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o ausente voltar?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0020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ele (ou um descendente ou ascendente seu) regressar nos 10 anos seguintes à abertura da sucessão definitiva, recebe apenas: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679192"/>
            <a:ext cx="603504" cy="60350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431" y="283610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56032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bens existentes, no estado em que se acharem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48640" y="3584448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703320"/>
            <a:ext cx="603504" cy="60350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31" y="3860231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584448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bens sub-rogados em seu lugar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4608576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1520" y="4727448"/>
            <a:ext cx="603504" cy="60350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31" y="4884359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554480" y="4608576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que os herdeiros receberam pelos bens alienados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56692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Terceiro de boa-fé que comprou o bem não o devolve.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7680960" y="1645920"/>
            <a:ext cx="3959352" cy="2468880"/>
          </a:xfrm>
          <a:prstGeom prst="roundRect">
            <a:avLst>
              <a:gd name="adj" fmla="val 2963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955280" y="1874520"/>
            <a:ext cx="640080" cy="6400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701" y="2040941"/>
            <a:ext cx="307238" cy="30723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73252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volta em 10 anos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7955280" y="26517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nenhum interessado promove a definitiva: os bens arrecadados passam ao Município ou ao DF onde estiverem, ou à União, se em território federal (parágrafo único).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7680960" y="4343400"/>
            <a:ext cx="3959352" cy="1691640"/>
          </a:xfrm>
          <a:prstGeom prst="roundRect">
            <a:avLst>
              <a:gd name="adj" fmla="val 4324"/>
            </a:avLst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7909560" y="448056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processo: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comum, com citação dos sucessores, do MP e da Fazenda Pública (art. 745, § 4º, CPC).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do tempo da ausência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371600" y="2926080"/>
            <a:ext cx="9448495" cy="0"/>
          </a:xfrm>
          <a:prstGeom prst="line">
            <a:avLst/>
          </a:prstGeom>
          <a:noFill/>
          <a:ln w="38100">
            <a:solidFill>
              <a:srgbClr val="6D2E4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51560" y="260604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156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Desaparecimento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3977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notícia e sem procurador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941259" y="260604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41259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392619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Arrecadação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392619" y="3977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 + editais por 1 ano, de 2 em 2 meses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830958" y="260604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30958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282318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Sucessão provisória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282318" y="3977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1 ano (ou 3, com procurador)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720657" y="260604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20657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172017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172017" y="3977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dias após a publicação; inventário após o trânsito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610356" y="2606040"/>
            <a:ext cx="640080" cy="6400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10356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061716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Sucessão definitiva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061716" y="3977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anos após o trânsito da provisória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500055" y="260604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500055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9951415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 plena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951415" y="3977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anos após a abertura da definitiva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822960" y="53035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 do art. 38: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com 80 anos e 5 anos sem notícias permite requerer diretamente a sucessão definitiva.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Arrecadação + editais (1 ano) → provisória (1 ou 3 anos) → definitiva (10 anos) → propriedade plena (10 anos)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7º CC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Morte presumida sem declaração de ausência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20528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18745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Inciso I · perigo de vida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651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Morte extremamente provável de quem estava em perigo de vida: naufrágio, queda de avião, rompimento de barragem, enchente.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199632" y="16459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73952" y="187452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20528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42632" y="18745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Inciso II · guerra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73952" y="2651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Desaparecido em campanha ou feito prisioneiro, não encontrado até 2 anos após o término da guerra.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(parágrafo único)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343400"/>
            <a:ext cx="5440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pode ser requerida depois de esgotadas as buscas e averiguações.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sentença deve fixar a data provável do falecimento.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199632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Normas correlatas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6199632" y="4343400"/>
            <a:ext cx="5440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6.015/73, art. 88: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justificação de óbito em naufrágio, inundação, incêndio ou terremoto.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8.213/91, art. 78: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pensão provisória após 6 meses de ausência declarada; em desastre, sem esse prazo.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Ausência x morte presumida do art. 7º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7083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Ausência (arts. 22-39)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Morte presumida (art. 7º)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Desaparecimento sem notícias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Morte extremamente provável ou desaparecimento em guerra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Curadoria → provisória → definitiva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 declaratória direta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Presunção de morte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com a sucessão definitiva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a sentença, que fixa a data provável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Sucessão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Provisória, com cautelas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Comum, desde logo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Casamento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Dissolve-se na sucessão definitiva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Dissolve-se com a sentença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A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737360"/>
            <a:ext cx="2743200" cy="2743200"/>
          </a:xfrm>
          <a:prstGeom prst="ellipse">
            <a:avLst/>
          </a:prstGeom>
          <a:solidFill>
            <a:srgbClr val="6D2E46"/>
          </a:solidFill>
          <a:ln w="25400">
            <a:solidFill>
              <a:srgbClr val="C9A22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4688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 FIXAÇÃO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concretos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questões objetivas · 2 questões discursivas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(arts. 22 a 39) e morte presumida (art. 7º)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1 · OBJETIVA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08760"/>
            <a:ext cx="11094415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João, empresário em Gurupi/TO, desapareceu em janeiro de 2022 sem deixar notícias. Antes de sumir, havia outorgado procuração com amplos poderes de administração ao seu contador, que continua administrando os bens. A arrecadação dos bens foi concluída em março de 2023. Sua esposa quer requerer a abertura da sucessão provisória. Assinale a alternativa correta: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7767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868168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868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776728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pode requerer a partir de março de 2024, pois basta 1 ano da arrecadação.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480816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" y="3627120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627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480816"/>
            <a:ext cx="10180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só pode requerer a partir de março de 2026, pois João deixou procurador e o prazo é de 3 anos da arrecadação.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294632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85800" y="4440936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440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4294632"/>
            <a:ext cx="10180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pode requerer imediatamente a sucessão definitiva, pois João desapareceu há mais de 2 anos.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5108448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" y="5254752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25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108448"/>
            <a:ext cx="10180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não pode requerer, pois somente o Ministério Público tem legitimidade enquanto houver procurador.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2 · OBJETIVA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2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08760"/>
            <a:ext cx="11094415" cy="132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10/05/2025, uma embarcação que fazia a travessia no Rio Tocantins naufragou durante uma tempestade. Carlos constava na lista de passageiros. Todos os demais passageiros foram resgatados ou tiveram os corpos localizados, mas o corpo de Carlos nunca foi encontrado. As buscas do Corpo de Bombeiros e da Marinha foram encerradas em julho de 2025. Sobre a situação jurídica de Carlos, é correto afirmar: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020568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3166872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166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020568"/>
            <a:ext cx="10180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família deve requerer a curadoria dos bens do ausente e aguardar a sucessão definitiva para obter a presunção de morte.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83438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" y="3925824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925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834384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se pode declarar a morte de Carlos após 2 anos do naufrágio, por analogia ao art. 7º, II.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538472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85800" y="4684776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684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4538472"/>
            <a:ext cx="10180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possível a declaração de morte presumida sem decretação de ausência (art. 7º, I, CC). A sentença deve fixar a data provável do falecimento.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5352288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" y="5498592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498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352288"/>
            <a:ext cx="10180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declaração de morte presumida dispensa o esgotamento das buscas, pois o naufrágio é fato notório.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3 · OBJETIVA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3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08760"/>
            <a:ext cx="11094415" cy="132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Declarada a ausência de Marta e aberta a sucessão provisória, os seus herdeiros são o filho, Pedro, e o irmão, Lucas, este na condição de herdeiro testamentário de parte disponível. Ambos entraram na posse dos bens. Um imóvel rural gera rendimentos de arrendamento. Três anos depois, Marta reaparece, e fica provado que ela havia se mudado voluntariamente para o exterior, sem qualquer justificativa, para “começar uma vida nova”. Assinale a correta: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020568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3166872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166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020568"/>
            <a:ext cx="10180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e Lucas devem devolver todos os frutos percebidos, pois a sucessão provisória não transfere direitos sobre os frutos.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83438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" y="3925824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925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834384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e Lucas ficam com todos os frutos, pois ambos são parentes da ausente.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538472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85800" y="4684776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684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4538472"/>
            <a:ext cx="10180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retorno, Marta recebe os bens no estado em que se encontrarem e perde o direito aos bens alienados, como prevê o art. 39.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5352288"/>
            <a:ext cx="11094415" cy="905256"/>
          </a:xfrm>
          <a:prstGeom prst="roundRect">
            <a:avLst>
              <a:gd name="adj" fmla="val 808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" y="5612892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56128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352288"/>
            <a:ext cx="1018001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fica com todos os frutos do seu quinhão. Lucas devia capitalizar metade dos frutos e prestar contas anualmente. Como a ausência foi voluntária e injustificada, Marta perde em favor dos sucessores a sua parte nos frutos e rendimentos.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4 · OBJETIVA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4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08760"/>
            <a:ext cx="110944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Antônio nasceu em 1944. Desde 2020 não há qualquer notícia dele. Em 2026, os filhos procuram o escritório para regularizar a situação patrimonial do pai. Nunca houve pedido de curadoria de bens. Assinale a correta: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532888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679192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532888"/>
            <a:ext cx="10180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possível requerer diretamente a sucessão definitiva, pois Antônio tem mais de 80 anos e as últimas notícias dele datam de mais de 5 anos (art. 38 CC).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346704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" y="3493008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346704"/>
            <a:ext cx="10180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filhos devem obrigatoriamente passar pelas três fases: curadoria, sucessão provisória e, após 10 anos, sucessão definitiva.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1605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85800" y="4251960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4160520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cabível a morte presumida do art. 7º, I, em razão da idade avançada.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486460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" y="4956048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4864608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sucessão definitiva só pode ser requerida quando Antônio completar 90 anos.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5 · DISCURSIVA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5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08760"/>
            <a:ext cx="11094415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desapareceu em 2008. Em 2010 foi aberta a sucessão provisória, cuja sentença transitou em julgado em 2010. Em 2020, a sucessão definitiva foi aberta a pedido da esposa, Ana, e dos dois filhos. Em 2022, Ana casou-se com Fernando. Em 2023, os filhos venderam a um terceiro de boa-fé uma fazenda que haviam recebido, por R$ 2.000.000,00. Com o preço, compraram um apartamento em Palmas. Em agosto de 2026, Roberto reaparece. Ele alega que nunca morreu, que continua casado com Ana e que quer todos os seus bens de volta, inclusive a fazenda.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1868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de forma fundamentada: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630168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3712464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630168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casamento de Roberto com Ana subsiste? O que acontece com o casamento de Ana e Fernando?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315968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" y="4398264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4315968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tem direito de reaver a fazenda vendida? O que ele pode reivindicar?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5001768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5800" y="5084064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5001768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procedimento processual para o pedido de Roberto?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6 · DISCURSIVA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6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08760"/>
            <a:ext cx="11094415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2024, durante uma missão de paz da ONU em zona de conflito armado, o soldado brasileiro Marcos foi capturado como prisioneiro. O conflito terminou oficialmente em fevereiro de 2025, e Marcos não foi localizado. A esposa dele, Juliana, com quem Marcos estava separado de fato havia 3 anos, e a mãe dele, Dona Helena, procuram você. Dona Helena quer ser nomeada curadora dos bens do filho imediatamente. Juliana quer a declaração de morte presumida já em 2025, para receber a herança e a pensão.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1868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de forma fundamentada: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630168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3776472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630168"/>
            <a:ext cx="10180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tem preferência para exercer a curadoria dos bens do ausente, se o caso seguir a via dos arts. 22 a 25?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443984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" y="4590288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4443984"/>
            <a:ext cx="10180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possível a declaração de morte presumida sem ausência? A partir de quando? Quais requisitos a sentença deve observar?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5257800"/>
            <a:ext cx="11094415" cy="676656"/>
          </a:xfrm>
          <a:prstGeom prst="roundRect">
            <a:avLst>
              <a:gd name="adj" fmla="val 1081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5800" y="5404104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5404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5257800"/>
            <a:ext cx="1018001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importância prática de a sentença fixar a data provável do falecimento? Explique com base neste caso.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questões objetivas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178308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16916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691640" y="20848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Letra B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60604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26: prazo de 3 anos quando há representante ou procurador. A alternativa A usa o prazo de quem não deixou procurador. A C erra porque a definitiva exige 10 anos da provisória ou o art. 38. A D contraria o art. 27: a esposa é legitimada.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99632" y="155448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28232" y="178308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28232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7342632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342632" y="20848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Letra C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428232" y="260604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7º, I, e parágrafo único: perigo de vida, morte extremamente provável, buscas esgotadas e fixação da data provável. Cabe também a justificação do art. 88 da Lei 6.015/73. A D erra: esgotar as buscas é requisito expresso.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402336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77240" y="425196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169164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691640" y="4553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Letra D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0749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33, caput e parágrafo único: o descendente fica com todos os frutos; os demais capitalizam metade e prestam contas. Na ausência voluntária e injustificada, o ausente perde sua parte nos frutos. A C confunde com o art. 39 (fase definitiva).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199632" y="402336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28232" y="4251960"/>
            <a:ext cx="731520" cy="7315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28232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29" name="Text 26"/>
          <p:cNvSpPr txBox="1"/>
          <p:nvPr/>
        </p:nvSpPr>
        <p:spPr>
          <a:xfrm>
            <a:off x="7342632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4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7342632" y="4553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Letra A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6428232" y="507492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38: 80 anos de idade e 5 anos das últimas notícias (Antônio tem cerca de 82 anos e está há cerca de 6 anos sem notícias). A doutrina majoritária dispensa as fases anteriores, com debate sobre a arrecadação prévia. A B erra por isso; a C erra porque idade não é perigo de vida.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questão 5 (pontos esperados)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4415" cy="1146048"/>
          </a:xfrm>
          <a:prstGeom prst="roundRect">
            <a:avLst>
              <a:gd name="adj" fmla="val 6383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1719072"/>
            <a:ext cx="411480" cy="4114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1645920"/>
            <a:ext cx="10180015" cy="963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abertura da sucessão definitiva, a morte de Roberto é presumida (art. 6º) e o casamento se dissolve (art. 1.571, § 1º). O casamento com Ana não “revive”. Prevalece o novo casamento de Ana com Fernando, contraído validamente e de boa-fé, em respeito à segurança jurídica. É o entendimento amplamente majoritário, pois o CC/2002 não prevê a nulidade do segundo casamento.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865120"/>
            <a:ext cx="11094415" cy="1359408"/>
          </a:xfrm>
          <a:prstGeom prst="roundRect">
            <a:avLst>
              <a:gd name="adj" fmla="val 5381"/>
            </a:avLst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5800" y="3029712"/>
            <a:ext cx="411480" cy="4114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029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2956560"/>
            <a:ext cx="1018001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voltou dentro dos 10 anos seguintes à abertura da definitiva (2020 a 2030). Pelo art. 39, recebe os bens existentes no estado em que se acharem, os bens sub-rogados (o apartamento em Palmas) ou o preço recebido. Não pode reaver a fazenda do terceiro de boa-fé, pois os sucessores tinham propriedade resolúvel e podiam alienar. Discutir também a meação de Ana e o que ela recebeu a título de herança.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389120"/>
            <a:ext cx="11094415" cy="932688"/>
          </a:xfrm>
          <a:prstGeom prst="roundRect">
            <a:avLst>
              <a:gd name="adj" fmla="val 7843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5800" y="4553712"/>
            <a:ext cx="411480" cy="4114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4553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8056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745, § 4º, CPC: o pedido de entrega dos bens segue o procedimento comum, com citação dos sucessores, do Ministério Público e da Fazenda Pública. É preciso ainda averbar no registro civil o cancelamento da morte presumida.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640080"/>
            <a:ext cx="10225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questão 6 (pontos esperados)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e morte presumida · arts. 6º, 7º e 22 a 39 do CC · Prof. Paulo Izidio da Silva Rezende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4415" cy="932688"/>
          </a:xfrm>
          <a:prstGeom prst="roundRect">
            <a:avLst>
              <a:gd name="adj" fmla="val 7843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1719072"/>
            <a:ext cx="411480" cy="4114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164592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25: Juliana não tem preferência, pois estava separada de fato havia mais de 2 anos antes da declaração de ausência. A preferência passa aos pais: Dona Helena. Depois dela, viriam os descendentes e, por último, o curador dativo.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651760"/>
            <a:ext cx="11094415" cy="1359408"/>
          </a:xfrm>
          <a:prstGeom prst="roundRect">
            <a:avLst>
              <a:gd name="adj" fmla="val 5381"/>
            </a:avLst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5800" y="2816352"/>
            <a:ext cx="411480" cy="4114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2743200"/>
            <a:ext cx="1018001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pelo art. 7º, II: desaparecido em campanha ou feito prisioneiro, não encontrado até 2 anos após o término da guerra. Como a guerra acabou em fevereiro de 2025, o pedido só é possível a partir de fevereiro de 2027: a pretensão de Juliana em 2025 é prematura. Requisitos: esgotamento das buscas e fixação da data provável do falecimento (parágrafo único). Até lá, cabe a curadoria dos bens (art. 22) e, para fins previdenciários, a pensão provisória do art. 78 da Lei 8.213/91.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175760"/>
            <a:ext cx="11094415" cy="1359408"/>
          </a:xfrm>
          <a:prstGeom prst="roundRect">
            <a:avLst>
              <a:gd name="adj" fmla="val 5381"/>
            </a:avLst>
          </a:prstGeom>
          <a:solidFill>
            <a:srgbClr val="F7EFF2"/>
          </a:solidFill>
          <a:ln w="12700">
            <a:solidFill>
              <a:srgbClr val="F7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5800" y="4340352"/>
            <a:ext cx="411480" cy="4114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4340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267200"/>
            <a:ext cx="1018001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provável fixa o momento da abertura da sucessão (saisine, art. 1.784): define os herdeiros daquele momento, o regime aplicável e eventual comoriência, e permite verificar o direito sucessório do cônjuge. O art. 1.830 afasta o cônjuge separado de fato há mais de 2 anos, salvo prova de que a convivência se tornou impossível sem culpa do sobrevivente. Juliana tende a ser excluída, e Dona Helena, como ascendente, será herdeira se Marcos não tiver descendentes.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Ausência e Morte Presumida</dc:title>
  <dc:subject>PptxGenJS Presentation</dc:subject>
  <dc:creator>Paulo Izidio da Silva Rezende</dc:creator>
  <cp:lastModifiedBy>Paulo Izidio da Silva Rezende</cp:lastModifiedBy>
  <cp:revision>1</cp:revision>
  <dcterms:created xsi:type="dcterms:W3CDTF">2026-09-24T09:54:18Z</dcterms:created>
  <dcterms:modified xsi:type="dcterms:W3CDTF">2026-09-24T09:54:18Z</dcterms:modified>
</cp:coreProperties>
</file>